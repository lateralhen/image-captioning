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8229600" cx="14630400"/>
  <p:notesSz cx="6858000" cy="9144000"/>
  <p:embeddedFontLs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it-IT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it-IT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4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5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6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6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7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7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7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8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9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9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0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20:notes"/>
          <p:cNvSpPr txBox="1"/>
          <p:nvPr>
            <p:ph idx="1"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0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1:notes"/>
          <p:cNvSpPr/>
          <p:nvPr>
            <p:ph idx="2" type="sldImg"/>
          </p:nvPr>
        </p:nvSpPr>
        <p:spPr>
          <a:xfrm>
            <a:off x="685800" y="1143000"/>
            <a:ext cx="5485680" cy="3085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21:notes"/>
          <p:cNvSpPr txBox="1"/>
          <p:nvPr>
            <p:ph idx="1"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:notes"/>
          <p:cNvSpPr txBox="1"/>
          <p:nvPr>
            <p:ph idx="12" type="sldNum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2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 rot="5400000">
            <a:off x="2309760" y="-251640"/>
            <a:ext cx="4525200" cy="822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 rot="5400000">
            <a:off x="4732920" y="2171520"/>
            <a:ext cx="5850720" cy="205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 rot="5400000">
            <a:off x="542160" y="189720"/>
            <a:ext cx="5850720" cy="60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>
  <p:cSld name="OBJECT 2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13"/>
          <p:cNvSpPr txBox="1"/>
          <p:nvPr>
            <p:ph idx="2"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13"/>
          <p:cNvSpPr txBox="1"/>
          <p:nvPr>
            <p:ph idx="3"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13"/>
          <p:cNvSpPr txBox="1"/>
          <p:nvPr>
            <p:ph idx="4"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" type="obj">
  <p:cSld name="OBJECT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1005840" y="438120"/>
            <a:ext cx="12618000" cy="159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1005840" y="2190600"/>
            <a:ext cx="12618000" cy="5220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2" name="Google Shape;92;p15"/>
          <p:cNvSpPr txBox="1"/>
          <p:nvPr>
            <p:ph idx="11" type="ftr"/>
          </p:nvPr>
        </p:nvSpPr>
        <p:spPr>
          <a:xfrm>
            <a:off x="1005840" y="7574400"/>
            <a:ext cx="1362384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0" y="7574400"/>
            <a:ext cx="100512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fld id="{00000000-1234-1234-1234-123412341234}" type="slidenum">
              <a:rPr lang="it-IT" sz="1440"/>
              <a:t>‹#›</a:t>
            </a:fld>
            <a:r>
              <a:rPr lang="it-IT" sz="1440"/>
              <a:t>/</a:t>
            </a:r>
            <a:endParaRPr sz="144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8" type="blank">
  <p:cSld name="BLANK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6" name="Google Shape;96;p16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9">
  <p:cSld name="Predefinito 9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1007640" y="548640"/>
            <a:ext cx="4717800" cy="1919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6219720" y="1184760"/>
            <a:ext cx="7405920" cy="584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3" name="Google Shape;103;p17"/>
          <p:cNvSpPr txBox="1"/>
          <p:nvPr>
            <p:ph idx="2" type="body"/>
          </p:nvPr>
        </p:nvSpPr>
        <p:spPr>
          <a:xfrm>
            <a:off x="1007640" y="2468880"/>
            <a:ext cx="4717800" cy="457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4" name="Google Shape;104;p17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5" name="Google Shape;105;p17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0" y="7574400"/>
            <a:ext cx="12600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</a:t>
            </a:r>
            <a:fld id="{00000000-1234-1234-1234-123412341234}" type="slidenum">
              <a:rPr lang="it-IT" sz="1440"/>
              <a:t>‹#›</a:t>
            </a:fld>
            <a:endParaRPr sz="14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10">
  <p:cSld name="Predefinito 10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1007640" y="548640"/>
            <a:ext cx="4717800" cy="1919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6219720" y="1184760"/>
            <a:ext cx="7405920" cy="584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0" name="Google Shape;110;p18"/>
          <p:cNvSpPr txBox="1"/>
          <p:nvPr>
            <p:ph idx="2" type="body"/>
          </p:nvPr>
        </p:nvSpPr>
        <p:spPr>
          <a:xfrm>
            <a:off x="1007640" y="2468880"/>
            <a:ext cx="4717800" cy="457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1" name="Google Shape;111;p18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2" name="Google Shape;112;p18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fld id="{00000000-1234-1234-1234-123412341234}" type="slidenum">
              <a:rPr lang="it-IT" sz="1440"/>
              <a:t>‹#›</a:t>
            </a:fld>
            <a:r>
              <a:rPr lang="it-IT" sz="1440"/>
              <a:t>/</a:t>
            </a:r>
            <a:endParaRPr sz="14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1" type="vertTx">
  <p:cSld name="VERTICAL_TEXT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1005840" y="438120"/>
            <a:ext cx="12618000" cy="159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 rot="5400000">
            <a:off x="4705200" y="-1508040"/>
            <a:ext cx="5220720" cy="12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19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19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2" type="vertTitleAndTx">
  <p:cSld name="VERTICAL_TITLE_AND_VERTICAL_TEXT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 rot="5400000">
            <a:off x="8560800" y="2347200"/>
            <a:ext cx="6973560" cy="315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 rot="5400000">
            <a:off x="2160000" y="-715320"/>
            <a:ext cx="6973560" cy="92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0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4" name="Google Shape;124;p20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3" type="title">
  <p:cSld name="TITLE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1828800" y="1346760"/>
            <a:ext cx="10972080" cy="2864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" name="Google Shape;128;p21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9" name="Google Shape;129;p21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4">
  <p:cSld name="Predefinito 4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998280" y="2051640"/>
            <a:ext cx="12618000" cy="3422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998280" y="5507280"/>
            <a:ext cx="12618000" cy="179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5" name="Google Shape;135;p22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6" name="Google Shape;136;p22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5" type="twoObj">
  <p:cSld name="TWO_OBJECTS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1005840" y="438120"/>
            <a:ext cx="12618000" cy="159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1005840" y="2190600"/>
            <a:ext cx="6217200" cy="5220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7406640" y="2190600"/>
            <a:ext cx="6217200" cy="5220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2" name="Google Shape;142;p23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3" name="Google Shape;143;p23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6">
  <p:cSld name="Predefinito 6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1007640" y="438120"/>
            <a:ext cx="12618000" cy="159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1007640" y="2017440"/>
            <a:ext cx="6188760" cy="987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8" name="Google Shape;148;p24"/>
          <p:cNvSpPr txBox="1"/>
          <p:nvPr>
            <p:ph idx="2" type="body"/>
          </p:nvPr>
        </p:nvSpPr>
        <p:spPr>
          <a:xfrm>
            <a:off x="1007640" y="3006000"/>
            <a:ext cx="6188760" cy="4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9" name="Google Shape;149;p24"/>
          <p:cNvSpPr txBox="1"/>
          <p:nvPr>
            <p:ph idx="3" type="body"/>
          </p:nvPr>
        </p:nvSpPr>
        <p:spPr>
          <a:xfrm>
            <a:off x="7406640" y="2017440"/>
            <a:ext cx="6219000" cy="987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0" name="Google Shape;150;p24"/>
          <p:cNvSpPr txBox="1"/>
          <p:nvPr>
            <p:ph idx="4" type="body"/>
          </p:nvPr>
        </p:nvSpPr>
        <p:spPr>
          <a:xfrm>
            <a:off x="7406640" y="3006000"/>
            <a:ext cx="6219000" cy="44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1" name="Google Shape;151;p24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2" name="Google Shape;152;p24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3" name="Google Shape;153;p24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definito 7" type="titleOnly">
  <p:cSld name="TITLE_ONLY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1005840" y="438120"/>
            <a:ext cx="12618000" cy="159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6" name="Google Shape;156;p25"/>
          <p:cNvSpPr txBox="1"/>
          <p:nvPr>
            <p:ph idx="10" type="dt"/>
          </p:nvPr>
        </p:nvSpPr>
        <p:spPr>
          <a:xfrm>
            <a:off x="11877840" y="7682760"/>
            <a:ext cx="329112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7" name="Google Shape;157;p25"/>
          <p:cNvSpPr txBox="1"/>
          <p:nvPr>
            <p:ph idx="11" type="ftr"/>
          </p:nvPr>
        </p:nvSpPr>
        <p:spPr>
          <a:xfrm>
            <a:off x="0" y="7579440"/>
            <a:ext cx="14629680" cy="6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0" y="7574400"/>
            <a:ext cx="907200" cy="6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440"/>
              <a:buFont typeface="Arial"/>
              <a:buNone/>
              <a:defRPr b="0" i="0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/>
          <p:nvPr/>
        </p:nvSpPr>
        <p:spPr>
          <a:xfrm>
            <a:off x="471240" y="1382760"/>
            <a:ext cx="676008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Image Captioning</a:t>
            </a:r>
            <a:endParaRPr b="0" i="0" sz="28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13624560" y="7745040"/>
            <a:ext cx="639360" cy="22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8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2440" y="0"/>
            <a:ext cx="6171480" cy="822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/>
          <p:nvPr/>
        </p:nvSpPr>
        <p:spPr>
          <a:xfrm>
            <a:off x="464400" y="2600640"/>
            <a:ext cx="8925480" cy="334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820000"/>
                </a:solidFill>
                <a:latin typeface="Arial"/>
                <a:ea typeface="Arial"/>
                <a:cs typeface="Arial"/>
                <a:sym typeface="Arial"/>
              </a:rPr>
              <a:t>Bachelor’s Degree Programme in Applied Computer Science and Artificial Intelligence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/>
          <p:nvPr/>
        </p:nvSpPr>
        <p:spPr>
          <a:xfrm>
            <a:off x="465120" y="7210440"/>
            <a:ext cx="157140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600" u="none" cap="none" strike="noStrike">
                <a:solidFill>
                  <a:srgbClr val="820000"/>
                </a:solidFill>
                <a:latin typeface="Arial"/>
                <a:ea typeface="Arial"/>
                <a:cs typeface="Arial"/>
                <a:sym typeface="Arial"/>
              </a:rPr>
              <a:t>A.Y. 2025/2026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468360" y="2980440"/>
            <a:ext cx="8928360" cy="33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820000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468360" y="3826440"/>
            <a:ext cx="892836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820000"/>
                </a:solidFill>
                <a:latin typeface="Arial"/>
                <a:ea typeface="Arial"/>
                <a:cs typeface="Arial"/>
                <a:sym typeface="Arial"/>
              </a:rPr>
              <a:t>Emiliano Moriconi (moriconi.1944917@studenti.uniroma1.it)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68360" y="4129200"/>
            <a:ext cx="8928360" cy="33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820000"/>
                </a:solidFill>
                <a:latin typeface="Arial"/>
                <a:ea typeface="Arial"/>
                <a:cs typeface="Arial"/>
                <a:sym typeface="Arial"/>
              </a:rPr>
              <a:t>Guido Paluzzi (paluzzi.2053090@studenti.uniroma1.it)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468360" y="4444200"/>
            <a:ext cx="892836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820000"/>
                </a:solidFill>
                <a:latin typeface="Arial"/>
                <a:ea typeface="Arial"/>
                <a:cs typeface="Arial"/>
                <a:sym typeface="Arial"/>
              </a:rPr>
              <a:t>Roberto Sacchetti (sacchetti.2014782@studenti.uniroma1.it)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468360" y="4734720"/>
            <a:ext cx="8928360" cy="33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820000"/>
                </a:solidFill>
                <a:latin typeface="Arial"/>
                <a:ea typeface="Arial"/>
                <a:cs typeface="Arial"/>
                <a:sym typeface="Arial"/>
              </a:rPr>
              <a:t>Marco Mazzillo (mazzillo.2082152@studenti.uniroma1.it)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0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180" name="Google Shape;180;p27"/>
          <p:cNvPicPr preferRelativeResize="0"/>
          <p:nvPr/>
        </p:nvPicPr>
        <p:blipFill rotWithShape="1">
          <a:blip r:embed="rId3">
            <a:alphaModFix/>
          </a:blip>
          <a:srcRect b="6973" l="10622" r="7370" t="13949"/>
          <a:stretch/>
        </p:blipFill>
        <p:spPr>
          <a:xfrm>
            <a:off x="1134000" y="-2160"/>
            <a:ext cx="1181880" cy="13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, symbol, emblem, trademark&#10;&#10;Description automatically generated" id="181" name="Google Shape;181;p27"/>
          <p:cNvPicPr preferRelativeResize="0"/>
          <p:nvPr/>
        </p:nvPicPr>
        <p:blipFill rotWithShape="1">
          <a:blip r:embed="rId4">
            <a:alphaModFix/>
          </a:blip>
          <a:srcRect b="9249" l="9767" r="9298" t="14734"/>
          <a:stretch/>
        </p:blipFill>
        <p:spPr>
          <a:xfrm>
            <a:off x="1134000" y="0"/>
            <a:ext cx="1181880" cy="13525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p27"/>
          <p:cNvSpPr/>
          <p:nvPr/>
        </p:nvSpPr>
        <p:spPr>
          <a:xfrm>
            <a:off x="2452320" y="725400"/>
            <a:ext cx="11043720" cy="6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3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335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1148040" y="1832760"/>
            <a:ext cx="12348000" cy="452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 and Motivation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Dataset and Experimental Protocol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Critical Discussion and Limitations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192" name="Google Shape;192;p28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8"/>
          <p:cNvSpPr/>
          <p:nvPr/>
        </p:nvSpPr>
        <p:spPr>
          <a:xfrm>
            <a:off x="1836000" y="563040"/>
            <a:ext cx="12330000" cy="4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Connessione tra Visione e Linguaggio</a:t>
            </a:r>
            <a:endParaRPr b="0" i="0" sz="24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1836000" y="163800"/>
            <a:ext cx="12330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822433"/>
                </a:solidFill>
              </a:rPr>
              <a:t>Context</a:t>
            </a:r>
            <a:r>
              <a:rPr lang="it-IT" sz="1800">
                <a:solidFill>
                  <a:schemeClr val="dk2"/>
                </a:solidFill>
              </a:rPr>
              <a:t> </a:t>
            </a:r>
            <a:r>
              <a:rPr lang="it-IT" sz="1800">
                <a:solidFill>
                  <a:srgbClr val="822433"/>
                </a:solidFill>
              </a:rPr>
              <a:t>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4072320" y="1645920"/>
            <a:ext cx="10058760" cy="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1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L'Image Captioning consiste nella generazione automatica di descrizioni di immagini a partire da queste.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4037760" y="2744640"/>
            <a:ext cx="10058760" cy="88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rgbClr val="8224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Comprensione visiva fine-grained:</a:t>
            </a:r>
            <a:r>
              <a:rPr b="0" i="0" lang="it-IT" sz="2400" u="none" cap="none" strike="noStrike">
                <a:solidFill>
                  <a:srgbClr val="8224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it-IT" sz="24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Identificare oggetti, relazioni spaziali, azioni e contesto d'insieme.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4037760" y="4064760"/>
            <a:ext cx="9990000" cy="131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rgbClr val="8224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Generazione linguistica naturale:</a:t>
            </a:r>
            <a:r>
              <a:rPr b="1" i="0" lang="it-IT" sz="24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it-IT" sz="24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Tradurre l'embedding vettoriale dell'immagine in token testuali fluenti e corretti.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4037760" y="5809680"/>
            <a:ext cx="9990000" cy="131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rgbClr val="82243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Allineamento degli spazi semantici:</a:t>
            </a:r>
            <a:r>
              <a:rPr b="1" i="0" lang="it-IT" sz="2400" u="none" cap="none" strike="noStrike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it-IT" sz="24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it-IT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Ridurre il "gap" semantico mappando le features visive nello spazio autoregressivo del decoder.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040" y="1645920"/>
            <a:ext cx="3101400" cy="5409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205" name="Google Shape;205;p29"/>
          <p:cNvPicPr preferRelativeResize="0"/>
          <p:nvPr/>
        </p:nvPicPr>
        <p:blipFill rotWithShape="1">
          <a:blip r:embed="rId3">
            <a:alphaModFix/>
          </a:blip>
          <a:srcRect b="6973" l="10622" r="7370" t="13949"/>
          <a:stretch/>
        </p:blipFill>
        <p:spPr>
          <a:xfrm>
            <a:off x="1134000" y="-2160"/>
            <a:ext cx="1181880" cy="13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, symbol, emblem, trademark&#10;&#10;Description automatically generated" id="206" name="Google Shape;206;p29"/>
          <p:cNvPicPr preferRelativeResize="0"/>
          <p:nvPr/>
        </p:nvPicPr>
        <p:blipFill rotWithShape="1">
          <a:blip r:embed="rId4">
            <a:alphaModFix/>
          </a:blip>
          <a:srcRect b="9249" l="9767" r="9298" t="14734"/>
          <a:stretch/>
        </p:blipFill>
        <p:spPr>
          <a:xfrm>
            <a:off x="1134000" y="0"/>
            <a:ext cx="1181880" cy="13525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9"/>
          <p:cNvSpPr/>
          <p:nvPr/>
        </p:nvSpPr>
        <p:spPr>
          <a:xfrm>
            <a:off x="2452320" y="725400"/>
            <a:ext cx="11043720" cy="6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3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335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1148040" y="1832760"/>
            <a:ext cx="12348000" cy="466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and Motivation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Dataset and Experimental Protocol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Critical Discussion and Limitations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217" name="Google Shape;217;p30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0"/>
          <p:cNvSpPr/>
          <p:nvPr/>
        </p:nvSpPr>
        <p:spPr>
          <a:xfrm>
            <a:off x="1836000" y="533160"/>
            <a:ext cx="1254204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Il problema: Memorizzazione e Overfitting Precoce</a:t>
            </a:r>
            <a:endParaRPr b="0" i="0" sz="28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1836000" y="163800"/>
            <a:ext cx="1164168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 and Motivation 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464040" y="4064040"/>
            <a:ext cx="13308840" cy="216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​Obiettivo dello studio</a:t>
            </a:r>
            <a:r>
              <a:rPr b="0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Condurre un'analisi ablativa progressiva e controllata per quantificare il contributo isolato di tre fattori: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Arial"/>
              <a:buChar char="○"/>
            </a:pP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L'impatto delle tecniche di regolarizzazione del </a:t>
            </a: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Arial"/>
              <a:buChar char="○"/>
            </a:pP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Il peso dell'aumento della</a:t>
            </a: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Scala dei dati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(passaggio da Flickr8k a Flickr30k).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8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Arial"/>
              <a:buChar char="○"/>
            </a:pP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Il guadagno fornito dall'allineamento semantico dell'</a:t>
            </a: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(ViT vs CLIP).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464040" y="1831680"/>
            <a:ext cx="13308840" cy="1992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: I modelli basati su Transformer sono estremamente potenti ma "affamati" di dati. Addestrando la nostra baseline su un dataset ridotto come </a:t>
            </a: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Flickr8k 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(6.000 immagini di train), il modello ha semplicemente memorizzato i dati, producendo descrizioni generiche e fallendo nella generalizzazione.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227" name="Google Shape;227;p31"/>
          <p:cNvPicPr preferRelativeResize="0"/>
          <p:nvPr/>
        </p:nvPicPr>
        <p:blipFill rotWithShape="1">
          <a:blip r:embed="rId3">
            <a:alphaModFix/>
          </a:blip>
          <a:srcRect b="6973" l="10622" r="7370" t="13949"/>
          <a:stretch/>
        </p:blipFill>
        <p:spPr>
          <a:xfrm>
            <a:off x="1134000" y="-2160"/>
            <a:ext cx="1181880" cy="13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, symbol, emblem, trademark&#10;&#10;Description automatically generated" id="228" name="Google Shape;228;p31"/>
          <p:cNvPicPr preferRelativeResize="0"/>
          <p:nvPr/>
        </p:nvPicPr>
        <p:blipFill rotWithShape="1">
          <a:blip r:embed="rId4">
            <a:alphaModFix/>
          </a:blip>
          <a:srcRect b="9249" l="9767" r="9298" t="14734"/>
          <a:stretch/>
        </p:blipFill>
        <p:spPr>
          <a:xfrm>
            <a:off x="1134000" y="0"/>
            <a:ext cx="1181880" cy="13525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9" name="Google Shape;229;p31"/>
          <p:cNvSpPr/>
          <p:nvPr/>
        </p:nvSpPr>
        <p:spPr>
          <a:xfrm>
            <a:off x="2452320" y="725400"/>
            <a:ext cx="11043720" cy="6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3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335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1"/>
          <p:cNvSpPr/>
          <p:nvPr/>
        </p:nvSpPr>
        <p:spPr>
          <a:xfrm>
            <a:off x="1148040" y="1832760"/>
            <a:ext cx="12348000" cy="466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 and Motivation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Dataset and Experimental Protocol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Critical Discussion and Limitations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239" name="Google Shape;239;p32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Stato dell’Arte: Dalle CNN ai Vision-Language Models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1836000" y="163800"/>
            <a:ext cx="1164168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 ●○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5286240" y="1593000"/>
            <a:ext cx="8662680" cy="17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Approcci Classici (2015):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Paradigma Encoder-Decoder con </a:t>
            </a:r>
            <a:r>
              <a:rPr b="0" i="1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CNN+LSTM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(es. "Show and Tell"). Punteggi BLEU-4 storici intorno a 21-23. Introduzione dell'</a:t>
            </a:r>
            <a:r>
              <a:rPr b="0" i="1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con "Show, Attend and Tell".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5440680" y="3552480"/>
            <a:ext cx="8662680" cy="17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L'Era dei Transformer: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Sostituzione delle CNN con </a:t>
            </a:r>
            <a:r>
              <a:rPr b="0" i="1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Vision Transformer (ViT)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e delle LSTM con modelli autoregressivi come </a:t>
            </a:r>
            <a:r>
              <a:rPr b="0" i="1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GPT-2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 Parallelizzazione massiva ma alto rischio di overfitting precoce.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5427360" y="5511960"/>
            <a:ext cx="8662680" cy="17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Modelli Vision-Language (2021+):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L'avvento di </a:t>
            </a: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CLIP (OpenAI)</a:t>
            </a:r>
            <a:r>
              <a:rPr b="0" i="0" lang="it-IT" sz="2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. Addestrato con obiettivo contrastivo su 400M di coppie dal web, produce feature visive già nativamente allineate alla semantica del linguaggio.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040" y="1309320"/>
            <a:ext cx="4221000" cy="6144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3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3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254" name="Google Shape;254;p33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Il nostro approccio: Modularità e Semplicità Lineare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1836000" y="163800"/>
            <a:ext cx="1164168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 ○●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464760" y="1814760"/>
            <a:ext cx="13372560" cy="8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differenza di lavori simili (es. ClipCap), non viene utilizzato un mapping network basato su transformer per la proiezione delle feature visive.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463680" y="3327120"/>
            <a:ext cx="1337472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Adottiamo un semplice </a:t>
            </a: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Strato lineare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(proiezione dimensionale 1024 -&gt; 768) per collegare l'Encoder visivo al Decoder linguistico (GPT- 2 small in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versione standard, senza fine-tuning del prefisso).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463680" y="5208840"/>
            <a:ext cx="1337472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Dimostriamo che un’architettura essenziale, riproducibile e basata interamente su componenti open-source è in grado di raggiungere i punti dello stato dell’arte storico (BLEU -4 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~25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procedendo step-by-step.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00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265" name="Google Shape;265;p34"/>
          <p:cNvPicPr preferRelativeResize="0"/>
          <p:nvPr/>
        </p:nvPicPr>
        <p:blipFill rotWithShape="1">
          <a:blip r:embed="rId3">
            <a:alphaModFix/>
          </a:blip>
          <a:srcRect b="6973" l="10622" r="7370" t="13949"/>
          <a:stretch/>
        </p:blipFill>
        <p:spPr>
          <a:xfrm>
            <a:off x="1134000" y="-2160"/>
            <a:ext cx="1181880" cy="13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, symbol, emblem, trademark&#10;&#10;Description automatically generated" id="266" name="Google Shape;266;p34"/>
          <p:cNvPicPr preferRelativeResize="0"/>
          <p:nvPr/>
        </p:nvPicPr>
        <p:blipFill rotWithShape="1">
          <a:blip r:embed="rId4">
            <a:alphaModFix/>
          </a:blip>
          <a:srcRect b="9249" l="9767" r="9298" t="14734"/>
          <a:stretch/>
        </p:blipFill>
        <p:spPr>
          <a:xfrm>
            <a:off x="1134000" y="0"/>
            <a:ext cx="1181880" cy="13525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7" name="Google Shape;267;p34"/>
          <p:cNvSpPr/>
          <p:nvPr/>
        </p:nvSpPr>
        <p:spPr>
          <a:xfrm>
            <a:off x="2452320" y="725400"/>
            <a:ext cx="11043720" cy="6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3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335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1148040" y="1832760"/>
            <a:ext cx="12348000" cy="466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 and Motivation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Dataset and Experimental Protocol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Critical Discussion and Limitations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5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277" name="Google Shape;277;p35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Pipeline </a:t>
            </a:r>
            <a:r>
              <a:rPr b="1" i="0" lang="it-IT" sz="2800" u="none" cap="none" strike="noStrike">
                <a:solidFill>
                  <a:srgbClr val="820000"/>
                </a:solidFill>
                <a:latin typeface="Arial"/>
                <a:ea typeface="Arial"/>
                <a:cs typeface="Arial"/>
                <a:sym typeface="Arial"/>
              </a:rPr>
              <a:t>Sperimentale</a:t>
            </a: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Una Progressione Controllata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1836000" y="163800"/>
            <a:ext cx="116416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 ●○○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553320" y="2074680"/>
            <a:ext cx="13038120" cy="8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nostro lavoro non prevede un’unica architettura finale pre-confezionata, ma si sviluppa attraverso una pipeline sperimentale in quattro fasi per isolare i miglioramenti.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553320" y="3578040"/>
            <a:ext cx="13700160" cy="4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Setup della Baseline (ViT-Base + GPT-2 su Flickr8k).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553320" y="4251960"/>
            <a:ext cx="13700160" cy="4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Regolarizzazione profonda del Training (Best Practice).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553320" y="4976280"/>
            <a:ext cx="13700160" cy="4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Scale-up dei dati (Moltiplicazione x4 del volume dati con Flickr30k).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553320" y="5700600"/>
            <a:ext cx="13700160" cy="4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Fase 4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Sostituzione dell’Encoder (Upgrade semantico da ViT a CLIP-Large).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6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293" name="Google Shape;293;p36"/>
          <p:cNvPicPr preferRelativeResize="0"/>
          <p:nvPr/>
        </p:nvPicPr>
        <p:blipFill rotWithShape="1">
          <a:blip r:embed="rId3">
            <a:alphaModFix/>
          </a:blip>
          <a:srcRect b="22236" l="3732" r="66342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6"/>
          <p:cNvSpPr/>
          <p:nvPr/>
        </p:nvSpPr>
        <p:spPr>
          <a:xfrm>
            <a:off x="1836000" y="563040"/>
            <a:ext cx="12330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45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L'Architettura </a:t>
            </a:r>
            <a:r>
              <a:rPr b="1" i="0" lang="it-IT" sz="3450" u="none" cap="none" strike="noStrike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VisionEncoderDecoder</a:t>
            </a:r>
            <a:endParaRPr b="0" i="0" sz="3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1836000" y="163800"/>
            <a:ext cx="116416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 ○●○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6"/>
          <p:cNvSpPr/>
          <p:nvPr/>
        </p:nvSpPr>
        <p:spPr>
          <a:xfrm>
            <a:off x="5620320" y="3096000"/>
            <a:ext cx="854532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r>
              <a:rPr b="1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Analizza l'immagine estraendo rappresentazioni spaziali (patch).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r>
              <a:rPr b="1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Genera il testo in modo autoregressivo.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Cross-Attention</a:t>
            </a:r>
            <a:r>
              <a:rPr b="1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 ponte vitale. Permette al modello linguistico di "focalizzarsi" su specifiche aree visive mentre predice ogni singola parola.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6"/>
          <p:cNvSpPr/>
          <p:nvPr/>
        </p:nvSpPr>
        <p:spPr>
          <a:xfrm>
            <a:off x="464040" y="1410120"/>
            <a:ext cx="13014000" cy="4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Il Modello a Trasformatori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36"/>
          <p:cNvPicPr preferRelativeResize="0"/>
          <p:nvPr/>
        </p:nvPicPr>
        <p:blipFill rotWithShape="1">
          <a:blip r:embed="rId4">
            <a:alphaModFix/>
          </a:blip>
          <a:srcRect b="0" l="1401" r="0" t="0"/>
          <a:stretch/>
        </p:blipFill>
        <p:spPr>
          <a:xfrm>
            <a:off x="464040" y="3096000"/>
            <a:ext cx="5155920" cy="296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6"/>
          <p:cNvSpPr/>
          <p:nvPr/>
        </p:nvSpPr>
        <p:spPr>
          <a:xfrm>
            <a:off x="464040" y="2049120"/>
            <a:ext cx="13701960" cy="1046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Abbandonando le architetture classiche (CNN+RNN), il progetto si basa su un'architettura interamente </a:t>
            </a:r>
            <a:r>
              <a:rPr b="0" i="1" lang="it-IT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Transformer-based</a:t>
            </a:r>
            <a:r>
              <a:rPr b="0" i="0" lang="it-IT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implementato sfruttando il framework di </a:t>
            </a:r>
            <a:r>
              <a:rPr b="0" i="1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Hugging Face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7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37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308" name="Google Shape;308;p37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Upgrade dell’Encoder: L’Allineamento Semantico di CLIP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7"/>
          <p:cNvSpPr/>
          <p:nvPr/>
        </p:nvSpPr>
        <p:spPr>
          <a:xfrm>
            <a:off x="1836000" y="163800"/>
            <a:ext cx="116416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 ○○●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7"/>
          <p:cNvSpPr/>
          <p:nvPr/>
        </p:nvSpPr>
        <p:spPr>
          <a:xfrm>
            <a:off x="524520" y="1967040"/>
            <a:ext cx="1370016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Il superamento del ViT standard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Sostituzione di ViT-base (addestrato su ImageNet per la sola classificazione) con </a:t>
            </a:r>
            <a:r>
              <a:rPr b="1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CLIP ViT-L/14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(addestrato su 400M di coppia immagine-testo con Contrastive Learning) per ottenere feature native allineate al linguaggio.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7"/>
          <p:cNvSpPr/>
          <p:nvPr/>
        </p:nvSpPr>
        <p:spPr>
          <a:xfrm>
            <a:off x="462600" y="3809160"/>
            <a:ext cx="13824360" cy="8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Sfida Ingegneristica risolta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Il disallineamento matriciale tra i due modelli (CLIP output 1024 vs GPT-2 input 768) è stato risolto implementando un </a:t>
            </a:r>
            <a:r>
              <a:rPr b="1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 di Proiezione Lineare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intermedio.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7"/>
          <p:cNvSpPr/>
          <p:nvPr/>
        </p:nvSpPr>
        <p:spPr>
          <a:xfrm>
            <a:off x="464760" y="5281560"/>
            <a:ext cx="1370016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Capacità semantiche superiori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Il modello finale scala a ben</a:t>
            </a:r>
            <a:r>
              <a:rPr b="1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456.8 Milioni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 parametri, sfruttando la vasta conoscenza cross-domain di CLIP per migliorare la comprensione profonda delle scene visive.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319" name="Google Shape;319;p38"/>
          <p:cNvPicPr preferRelativeResize="0"/>
          <p:nvPr/>
        </p:nvPicPr>
        <p:blipFill rotWithShape="1">
          <a:blip r:embed="rId3">
            <a:alphaModFix/>
          </a:blip>
          <a:srcRect b="6973" l="10622" r="7370" t="13949"/>
          <a:stretch/>
        </p:blipFill>
        <p:spPr>
          <a:xfrm>
            <a:off x="1134000" y="-2160"/>
            <a:ext cx="1181880" cy="13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, symbol, emblem, trademark&#10;&#10;Description automatically generated" id="320" name="Google Shape;320;p38"/>
          <p:cNvPicPr preferRelativeResize="0"/>
          <p:nvPr/>
        </p:nvPicPr>
        <p:blipFill rotWithShape="1">
          <a:blip r:embed="rId4">
            <a:alphaModFix/>
          </a:blip>
          <a:srcRect b="9249" l="9767" r="9298" t="14734"/>
          <a:stretch/>
        </p:blipFill>
        <p:spPr>
          <a:xfrm>
            <a:off x="1134000" y="0"/>
            <a:ext cx="1181880" cy="13525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38"/>
          <p:cNvSpPr/>
          <p:nvPr/>
        </p:nvSpPr>
        <p:spPr>
          <a:xfrm>
            <a:off x="2452320" y="725400"/>
            <a:ext cx="11043720" cy="6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3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335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8"/>
          <p:cNvSpPr/>
          <p:nvPr/>
        </p:nvSpPr>
        <p:spPr>
          <a:xfrm>
            <a:off x="1148040" y="1832760"/>
            <a:ext cx="12348000" cy="466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 and Motivation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Dataset and Experimental Protocol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Critical Discussion and Limitations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9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9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331" name="Google Shape;331;p39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9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Dataset e Setup Sperimentale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9"/>
          <p:cNvSpPr/>
          <p:nvPr/>
        </p:nvSpPr>
        <p:spPr>
          <a:xfrm>
            <a:off x="1836000" y="163800"/>
            <a:ext cx="1164168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Dataset and Experimental Protocol ●○○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9"/>
          <p:cNvSpPr/>
          <p:nvPr/>
        </p:nvSpPr>
        <p:spPr>
          <a:xfrm>
            <a:off x="5398200" y="1461600"/>
            <a:ext cx="8767440" cy="15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Hardware &amp; Ottimizzazione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Training condotto su GPU NVIDIA RTX 5070 (12 GB VRAM) sfruttando la mixed precision (bf16) e l’Automatic Mixed Precision (AMP) per massimizzare l’efficienza.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9"/>
          <p:cNvSpPr/>
          <p:nvPr/>
        </p:nvSpPr>
        <p:spPr>
          <a:xfrm>
            <a:off x="5398200" y="3370680"/>
            <a:ext cx="8767440" cy="15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Fase 1 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Flickr8k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Dataset iniziale di ~8.000 immagini utilizzato come benchmark di valutazione fisso (cross-distribution) per confrontare rigorosamente i progressi di tutti gli esperimenti.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5398200" y="5280120"/>
            <a:ext cx="8767440" cy="15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Flickr30k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Dataset massiccio di ~31.000 (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~140.000 captions) 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utilizzato come training set nelle settimane 2 e 3 per abbattere la memorizzazione e testare reali capacità di astrazione.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39"/>
          <p:cNvPicPr preferRelativeResize="0"/>
          <p:nvPr/>
        </p:nvPicPr>
        <p:blipFill rotWithShape="1">
          <a:blip r:embed="rId4">
            <a:alphaModFix/>
          </a:blip>
          <a:srcRect b="-1049" l="69196" r="-1276" t="1049"/>
          <a:stretch/>
        </p:blipFill>
        <p:spPr>
          <a:xfrm>
            <a:off x="588600" y="1461600"/>
            <a:ext cx="4590000" cy="5802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0"/>
          <p:cNvSpPr/>
          <p:nvPr/>
        </p:nvSpPr>
        <p:spPr>
          <a:xfrm>
            <a:off x="211680" y="2055600"/>
            <a:ext cx="6447960" cy="481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i="0" lang="it-IT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Augmentation</a:t>
            </a:r>
            <a:r>
              <a:rPr b="0" i="0" lang="it-IT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it-IT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Random Flip, Color Jitter e ritagli casuali applicati solo al training set per forzare l’apprendimento di feature robuste ed invarianti (es. la posizione dei pixel).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i="0" lang="it-IT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Scheduler Dinamico</a:t>
            </a:r>
            <a:r>
              <a:rPr b="0" i="0" lang="it-IT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Learning rate gestito con Cosine Annealing e Warmup iniziale per evitare sbalzi nei gradienti (vitale per la cross-attention non ancora addestrata).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i="0" lang="it-IT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Ottimizzazione della Loss</a:t>
            </a:r>
            <a:r>
              <a:rPr b="0" i="0" lang="it-IT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Adozione del Label Smoothing (0.1) per mitigare l’overconfidence del modello.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1" i="0" lang="it-IT" sz="2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Metric-driven Stopping</a:t>
            </a:r>
            <a:r>
              <a:rPr b="0" i="0" lang="it-IT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Early Stopping monitorato direttamente sulla metrica BLEU-4 di validazione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0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40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347" name="Google Shape;347;p40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0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Regolarizzazione del Training: Combattere l’Overfitting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0"/>
          <p:cNvSpPr/>
          <p:nvPr/>
        </p:nvSpPr>
        <p:spPr>
          <a:xfrm>
            <a:off x="1836000" y="163800"/>
            <a:ext cx="1164168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Dataset and Experimental Protocol ○●○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0"/>
          <p:cNvSpPr/>
          <p:nvPr/>
        </p:nvSpPr>
        <p:spPr>
          <a:xfrm>
            <a:off x="571680" y="4125240"/>
            <a:ext cx="13467960" cy="16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0"/>
          <p:cNvSpPr/>
          <p:nvPr/>
        </p:nvSpPr>
        <p:spPr>
          <a:xfrm>
            <a:off x="678240" y="5608440"/>
            <a:ext cx="18036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6600" y="2700000"/>
            <a:ext cx="7223040" cy="4022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1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p41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361" name="Google Shape;361;p41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1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Valutazione e Risultati Quantitativi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1"/>
          <p:cNvSpPr/>
          <p:nvPr/>
        </p:nvSpPr>
        <p:spPr>
          <a:xfrm>
            <a:off x="1836000" y="163800"/>
            <a:ext cx="1164168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Dataset and Experimental Protocol ○○●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1"/>
          <p:cNvSpPr/>
          <p:nvPr/>
        </p:nvSpPr>
        <p:spPr>
          <a:xfrm>
            <a:off x="463680" y="1509120"/>
            <a:ext cx="13700160" cy="8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Fase di Inferenza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Ottimizzazione della generazione testuale sostituendo la banale greedy search con una Beam Search (width = 4), per esplorare percorsi probabilistici multipli e paralleli.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1"/>
          <p:cNvSpPr/>
          <p:nvPr/>
        </p:nvSpPr>
        <p:spPr>
          <a:xfrm>
            <a:off x="461520" y="2517120"/>
            <a:ext cx="1370016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Penalità e Valutazione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Parametro no_repeat_ngram_size = 3 per evitare i noti loop generativi di GPT-2. Valutazione condotta rigorosamente tramite libreria accademica sacrebleu calcolando la metrica a livello corpus.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1"/>
          <p:cNvSpPr/>
          <p:nvPr/>
        </p:nvSpPr>
        <p:spPr>
          <a:xfrm>
            <a:off x="462600" y="4629960"/>
            <a:ext cx="13700160" cy="307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000" y="3960000"/>
            <a:ext cx="5579640" cy="3419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0000" y="3960000"/>
            <a:ext cx="5579640" cy="341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000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374" name="Google Shape;374;p42"/>
          <p:cNvPicPr preferRelativeResize="0"/>
          <p:nvPr/>
        </p:nvPicPr>
        <p:blipFill rotWithShape="1">
          <a:blip r:embed="rId3">
            <a:alphaModFix/>
          </a:blip>
          <a:srcRect b="6973" l="10622" r="7370" t="13949"/>
          <a:stretch/>
        </p:blipFill>
        <p:spPr>
          <a:xfrm>
            <a:off x="1134000" y="-2160"/>
            <a:ext cx="1181880" cy="13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, symbol, emblem, trademark&#10;&#10;Description automatically generated" id="375" name="Google Shape;375;p42"/>
          <p:cNvPicPr preferRelativeResize="0"/>
          <p:nvPr/>
        </p:nvPicPr>
        <p:blipFill rotWithShape="1">
          <a:blip r:embed="rId4">
            <a:alphaModFix/>
          </a:blip>
          <a:srcRect b="9249" l="9767" r="9298" t="14734"/>
          <a:stretch/>
        </p:blipFill>
        <p:spPr>
          <a:xfrm>
            <a:off x="1134000" y="0"/>
            <a:ext cx="1181880" cy="13525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6" name="Google Shape;376;p42"/>
          <p:cNvSpPr/>
          <p:nvPr/>
        </p:nvSpPr>
        <p:spPr>
          <a:xfrm>
            <a:off x="2452320" y="725400"/>
            <a:ext cx="11043720" cy="6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3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335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2"/>
          <p:cNvSpPr/>
          <p:nvPr/>
        </p:nvSpPr>
        <p:spPr>
          <a:xfrm>
            <a:off x="1148040" y="1832760"/>
            <a:ext cx="12348000" cy="466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 and Motivation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Dataset and Experimental Protocol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Critical Discussion and Limitations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3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43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386" name="Google Shape;386;p43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3"/>
          <p:cNvSpPr/>
          <p:nvPr/>
        </p:nvSpPr>
        <p:spPr>
          <a:xfrm>
            <a:off x="1836000" y="163800"/>
            <a:ext cx="1164168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Critical Discussion and Limitations 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3"/>
          <p:cNvSpPr/>
          <p:nvPr/>
        </p:nvSpPr>
        <p:spPr>
          <a:xfrm>
            <a:off x="465840" y="1931760"/>
            <a:ext cx="1370016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Dominanza dei Dati (+94%)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Il contributo di gran lunga maggiore alle prestazioni proviene dall’aumento del dataset (passaggio a Flickr30k). In regimi di dati medio-piccoli, la quantità dei dati vince sulle modifiche architetturali.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3"/>
          <p:cNvSpPr/>
          <p:nvPr/>
        </p:nvSpPr>
        <p:spPr>
          <a:xfrm>
            <a:off x="463680" y="3555360"/>
            <a:ext cx="1370016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Asimmetria di CLIP-L (+35%)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Il vero vantaggio dell’encoder CLIP risiede nella generalizzazione cross-domain (+35% sul test set Flickr8k) grazie alle sue feature multimodali pre-allineate, più che nella mera capacità di adattamento in-distribution (+6% su Flickr30k).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3"/>
          <p:cNvSpPr/>
          <p:nvPr/>
        </p:nvSpPr>
        <p:spPr>
          <a:xfrm>
            <a:off x="463680" y="5179320"/>
            <a:ext cx="1370016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Limitazioni</a:t>
            </a:r>
            <a:r>
              <a:rPr b="0" i="0" lang="it-IT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GPT-2 small è un modello relativamente limitato per gli standard attuali e non ha subito un fine-tuning del prefisso. Inoltre, la metrica BLEU-4 penalizza le parafrasi corrette e non cattura a pieno l’effettiva fluidità e la qualità semantica delle descrizioni.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3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Discussione: Dati vs Architettura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000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397" name="Google Shape;397;p44"/>
          <p:cNvPicPr preferRelativeResize="0"/>
          <p:nvPr/>
        </p:nvPicPr>
        <p:blipFill rotWithShape="1">
          <a:blip r:embed="rId3">
            <a:alphaModFix/>
          </a:blip>
          <a:srcRect b="6973" l="10622" r="7370" t="13949"/>
          <a:stretch/>
        </p:blipFill>
        <p:spPr>
          <a:xfrm>
            <a:off x="1134000" y="-2160"/>
            <a:ext cx="1181880" cy="13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, symbol, emblem, trademark&#10;&#10;Description automatically generated" id="398" name="Google Shape;398;p44"/>
          <p:cNvPicPr preferRelativeResize="0"/>
          <p:nvPr/>
        </p:nvPicPr>
        <p:blipFill rotWithShape="1">
          <a:blip r:embed="rId4">
            <a:alphaModFix/>
          </a:blip>
          <a:srcRect b="9249" l="9767" r="9298" t="14734"/>
          <a:stretch/>
        </p:blipFill>
        <p:spPr>
          <a:xfrm>
            <a:off x="1134000" y="0"/>
            <a:ext cx="1181880" cy="13525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9" name="Google Shape;399;p44"/>
          <p:cNvSpPr/>
          <p:nvPr/>
        </p:nvSpPr>
        <p:spPr>
          <a:xfrm>
            <a:off x="2452320" y="725400"/>
            <a:ext cx="11043720" cy="6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33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 b="0" i="0" sz="335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4"/>
          <p:cNvSpPr/>
          <p:nvPr/>
        </p:nvSpPr>
        <p:spPr>
          <a:xfrm>
            <a:off x="1148040" y="1832760"/>
            <a:ext cx="12348000" cy="466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 and Motivation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Related Work and Gap with Respect to the State of the Art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Proposed Solution and Our Contribution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Dataset and Experimental Protocol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Critical Discussion and Limitations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1480" lvl="0" marL="4114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80"/>
              <a:buFont typeface="Arial"/>
              <a:buChar char="›"/>
            </a:pPr>
            <a:r>
              <a:rPr b="0" i="0" lang="it-IT" sz="2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88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0" y="7677000"/>
            <a:ext cx="14629680" cy="5454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5"/>
          <p:cNvSpPr txBox="1"/>
          <p:nvPr>
            <p:ph idx="12" type="sldNum"/>
          </p:nvPr>
        </p:nvSpPr>
        <p:spPr>
          <a:xfrm>
            <a:off x="9000" y="7677000"/>
            <a:ext cx="83736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None/>
            </a:pPr>
            <a:fld id="{00000000-1234-1234-1234-123412341234}" type="slidenum"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44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/21</a:t>
            </a:r>
            <a:endParaRPr b="0" i="0" sz="144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45"/>
          <p:cNvSpPr/>
          <p:nvPr/>
        </p:nvSpPr>
        <p:spPr>
          <a:xfrm>
            <a:off x="6583680" y="7778520"/>
            <a:ext cx="803700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Lab: Computer Vision – Signal Processing – Natural Language Processing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pienza - Università di Roma - Innovazione Aperta - LazioInnova" id="409" name="Google Shape;409;p45"/>
          <p:cNvPicPr preferRelativeResize="0"/>
          <p:nvPr/>
        </p:nvPicPr>
        <p:blipFill rotWithShape="1">
          <a:blip r:embed="rId3">
            <a:alphaModFix/>
          </a:blip>
          <a:srcRect b="22236" l="3732" r="66339" t="22184"/>
          <a:stretch/>
        </p:blipFill>
        <p:spPr>
          <a:xfrm>
            <a:off x="464040" y="9000"/>
            <a:ext cx="1170360" cy="122328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5"/>
          <p:cNvSpPr/>
          <p:nvPr/>
        </p:nvSpPr>
        <p:spPr>
          <a:xfrm>
            <a:off x="1836000" y="563040"/>
            <a:ext cx="12330000" cy="52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Conclusioni e Sviluppi Futuri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5"/>
          <p:cNvSpPr/>
          <p:nvPr/>
        </p:nvSpPr>
        <p:spPr>
          <a:xfrm>
            <a:off x="1836000" y="163800"/>
            <a:ext cx="11641680" cy="36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Conclusion and Future Work ●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5"/>
          <p:cNvSpPr/>
          <p:nvPr/>
        </p:nvSpPr>
        <p:spPr>
          <a:xfrm>
            <a:off x="464040" y="1738800"/>
            <a:ext cx="10279080" cy="193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Conclusioni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Lo studio ablativo ha portato a un miglioramento complessivo del </a:t>
            </a:r>
            <a:r>
              <a:rPr b="1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+209%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rispetto alla baseline (BLEU-4 finale: 25.65).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sistema genera didascalie estremamente precise (es. "</a:t>
            </a:r>
            <a:r>
              <a:rPr b="1" i="1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dog runs through the tall green grass on a sunny day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"), in linea con la fascia alta dello stato dell'arte storico pre-LLM.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5"/>
          <p:cNvSpPr/>
          <p:nvPr/>
        </p:nvSpPr>
        <p:spPr>
          <a:xfrm>
            <a:off x="464040" y="4209120"/>
            <a:ext cx="13561560" cy="119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Oltre GPT-2 (Verso i VLM)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La frontiera attuale e futura prevede la sostituzione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 GPT-2 con LLM di nuova generazione (es. Mistral o LLaMA 3) interfacciati tramite adattatori leggeri (LoRA).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5"/>
          <p:cNvSpPr/>
          <p:nvPr/>
        </p:nvSpPr>
        <p:spPr>
          <a:xfrm>
            <a:off x="464040" y="5797080"/>
            <a:ext cx="13698720" cy="131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8088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b="1" i="0" lang="it-IT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Unfreezing Profondo:</a:t>
            </a:r>
            <a:r>
              <a:rPr b="0" i="0" lang="it-IT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Avendo a disposizione cluster hardware superiori, il prossimo step sarà il Full Fine-Tuning dei pesi interni di CLIP-Large (attualmente congelato per limiti di VRAM) ed estendere il training a dataset colossali come MS-COCO.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15" name="Google Shape;41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3840" y="992520"/>
            <a:ext cx="3281760" cy="328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0000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421" name="Google Shape;421;p46"/>
          <p:cNvPicPr preferRelativeResize="0"/>
          <p:nvPr/>
        </p:nvPicPr>
        <p:blipFill rotWithShape="1">
          <a:blip r:embed="rId3">
            <a:alphaModFix/>
          </a:blip>
          <a:srcRect b="6972" l="10624" r="7370" t="13952"/>
          <a:stretch/>
        </p:blipFill>
        <p:spPr>
          <a:xfrm>
            <a:off x="1134000" y="-2160"/>
            <a:ext cx="1181880" cy="135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logo, symbol, emblem, trademark&#10;&#10;Description automatically generated" id="422" name="Google Shape;422;p46"/>
          <p:cNvPicPr preferRelativeResize="0"/>
          <p:nvPr/>
        </p:nvPicPr>
        <p:blipFill rotWithShape="1">
          <a:blip r:embed="rId4">
            <a:alphaModFix/>
          </a:blip>
          <a:srcRect b="9247" l="9769" r="9296" t="14736"/>
          <a:stretch/>
        </p:blipFill>
        <p:spPr>
          <a:xfrm>
            <a:off x="1134000" y="0"/>
            <a:ext cx="1181880" cy="135252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3" name="Google Shape;423;p46"/>
          <p:cNvSpPr/>
          <p:nvPr/>
        </p:nvSpPr>
        <p:spPr>
          <a:xfrm>
            <a:off x="0" y="2069640"/>
            <a:ext cx="14629680" cy="953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-IT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 FOR LISTENING!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t-IT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  <a:endParaRPr b="0" i="0" sz="2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creto #IoRestoaCasa, domande frequenti sulle misure adottate dal Governo  - CERIMONIE, EVENTI E ATTIVITA' RICREATIVE - Montesegale" id="424" name="Google Shape;42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9280" y="3132720"/>
            <a:ext cx="2931480" cy="4287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Thesis">
      <a:dk1>
        <a:srgbClr val="000000"/>
      </a:dk1>
      <a:lt1>
        <a:srgbClr val="FFFFFF"/>
      </a:lt1>
      <a:dk2>
        <a:srgbClr val="822433"/>
      </a:dk2>
      <a:lt2>
        <a:srgbClr val="E7E6E6"/>
      </a:lt2>
      <a:accent1>
        <a:srgbClr val="C00000"/>
      </a:accent1>
      <a:accent2>
        <a:srgbClr val="F995BB"/>
      </a:accent2>
      <a:accent3>
        <a:srgbClr val="FBCDE0"/>
      </a:accent3>
      <a:accent4>
        <a:srgbClr val="FEDEEB"/>
      </a:accent4>
      <a:accent5>
        <a:srgbClr val="92D050"/>
      </a:accent5>
      <a:accent6>
        <a:srgbClr val="48A1FA"/>
      </a:accent6>
      <a:hlink>
        <a:srgbClr val="FF000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